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Poppins Light"/>
      <p:regular r:id="rId17"/>
    </p:embeddedFont>
    <p:embeddedFont>
      <p:font typeface="Poppins Light"/>
      <p:regular r:id="rId18"/>
    </p:embeddedFont>
    <p:embeddedFont>
      <p:font typeface="Poppins Light"/>
      <p:regular r:id="rId19"/>
    </p:embeddedFont>
    <p:embeddedFont>
      <p:font typeface="Poppins Light"/>
      <p:regular r:id="rId20"/>
    </p:embeddedFont>
    <p:embeddedFont>
      <p:font typeface="Roboto Light"/>
      <p:regular r:id="rId21"/>
    </p:embeddedFont>
    <p:embeddedFont>
      <p:font typeface="Roboto Light"/>
      <p:regular r:id="rId22"/>
    </p:embeddedFont>
    <p:embeddedFont>
      <p:font typeface="Roboto Light"/>
      <p:regular r:id="rId23"/>
    </p:embeddedFont>
    <p:embeddedFont>
      <p:font typeface="Roboto Light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triage-production-9233.up.railway.app/" TargetMode="External"/><Relationship Id="rId1" Type="http://schemas.openxmlformats.org/officeDocument/2006/relationships/image" Target="../media/image-1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triage-production-9233.up.railway.app/" TargetMode="External"/><Relationship Id="rId2" Type="http://schemas.openxmlformats.org/officeDocument/2006/relationships/hyperlink" Target="https://triage-production-9233.up.railway.app/" TargetMode="External"/><Relationship Id="rId3" Type="http://schemas.openxmlformats.org/officeDocument/2006/relationships/slideLayout" Target="../slideLayouts/slideLayout1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30028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TRIAGELOCK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34922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2F2F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AI-Powered Emergency Triage &amp; Hospital Surge Intelligence System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396728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Team: A.I.C.A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4585335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Members: Ambuj Mishra (Leader), Ameen S, Steve Sunny Subhash, Eldo John Giby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556629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Live Demo: </a:t>
            </a:r>
            <a:pPr algn="l" indent="0" marL="0">
              <a:lnSpc>
                <a:spcPts val="2850"/>
              </a:lnSpc>
              <a:buNone/>
            </a:pPr>
            <a:r>
              <a:rPr lang="en-US" sz="1750" u="sng" dirty="0">
                <a:solidFill>
                  <a:srgbClr val="F2F2F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https://triage-production-9233.up.railway.app/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67063"/>
            <a:ext cx="761964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From Crisis to Coordination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428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The Problem: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123962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Emergency departments face unpredictable patient surges (pandemics, disasters)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929063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Manual triage is slow (5-10 min/patient), subjective, and error-prone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734163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Hospitals operate in silos - one collapses while another has spare capacity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539264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No early warning system for patient deterioration or surge events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2542818"/>
            <a:ext cx="57909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Our Solution - Three Levels of Intelligence: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599521" y="312396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1"/>
            </a:pPr>
            <a:r>
              <a:rPr lang="en-US" sz="17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Clinical Intelligence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(Doctors/Nurses)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356616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AI-augmented triage + real-time deterioration alerts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400835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2"/>
            </a:pPr>
            <a:r>
              <a:rPr lang="en-US" sz="17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Operational Intelligence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(Admins)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445055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6-hour surge forecasting + resource optimization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599521" y="489275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3"/>
            </a:pPr>
            <a:r>
              <a:rPr lang="en-US" sz="17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System Intelligence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(Government)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599521" y="533495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Multi-hospital coordination dashboard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659951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One platform. Three layers.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Production-ready today.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97850" y="392787"/>
            <a:ext cx="5899547" cy="446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Production-Ready System Design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97850" y="1124664"/>
            <a:ext cx="9034701" cy="4328874"/>
          </a:xfrm>
          <a:prstGeom prst="roundRect">
            <a:avLst>
              <a:gd name="adj" fmla="val 1386"/>
            </a:avLst>
          </a:prstGeom>
          <a:solidFill>
            <a:srgbClr val="121212"/>
          </a:solidFill>
          <a:ln/>
        </p:spPr>
      </p:sp>
      <p:sp>
        <p:nvSpPr>
          <p:cNvPr id="4" name="Shape 2"/>
          <p:cNvSpPr/>
          <p:nvPr/>
        </p:nvSpPr>
        <p:spPr>
          <a:xfrm>
            <a:off x="2790825" y="1124664"/>
            <a:ext cx="9048750" cy="4328874"/>
          </a:xfrm>
          <a:prstGeom prst="roundRect">
            <a:avLst>
              <a:gd name="adj" fmla="val 495"/>
            </a:avLst>
          </a:prstGeom>
          <a:solidFill>
            <a:srgbClr val="121212"/>
          </a:solidFill>
          <a:ln/>
        </p:spPr>
      </p:sp>
      <p:sp>
        <p:nvSpPr>
          <p:cNvPr id="5" name="Text 3"/>
          <p:cNvSpPr/>
          <p:nvPr/>
        </p:nvSpPr>
        <p:spPr>
          <a:xfrm>
            <a:off x="2933581" y="1231702"/>
            <a:ext cx="8763238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E5E0DF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┌─────────────────┐
│   React Client  │ → TypeScript, Tailwind CSS, Vite
│   (Frontend)    │ → Real-time WebSocket updates
└────────┬────────┘
         │ HTTP/WebSocket
         ▼
┌─────────────────┐   ┌──────────────────┐
│   Express API   │◄────►│    ML Service    │
│ (Node.js/TS)    │ HTTP │  (Flask/Python)  │
│   + Socket.IO   │   │    Scikit-learn    │
└────────┬────────┘   └──────────────────┘
         │
         ▼
┌─────────────────┐
│   PostgreSQL    │ → Knex.js ORM + Migrations
│   Database      │ → JWT Auth + RBAC
└─────────────────┘
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97850" y="5667732"/>
            <a:ext cx="1785461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Tech Stack: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97850" y="6105168"/>
            <a:ext cx="903470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Frontend: React 18, TypeScript, Socket.IO Client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97850" y="6383655"/>
            <a:ext cx="903470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Backend: Node.js, Express, WebSockets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97850" y="6662142"/>
            <a:ext cx="903470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ML Service: Python 3.11, Flask, NumPy, Pandas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97850" y="6940629"/>
            <a:ext cx="903470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Database: SQLite (dev) / PostgreSQL (prod)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97850" y="7219117"/>
            <a:ext cx="903470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Deployment: Railway (Live &amp; Production-ready)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97850" y="7608332"/>
            <a:ext cx="903470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5000+ lines of code. 3 microservices. 100% TypeScript. 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Already deployed.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83079" y="315754"/>
            <a:ext cx="4705826" cy="358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Rule-Based + AI Hybrid Approach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683079" y="720566"/>
            <a:ext cx="1947386" cy="179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TypeScript Implementation: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83079" y="1072158"/>
            <a:ext cx="7264122" cy="5687139"/>
          </a:xfrm>
          <a:prstGeom prst="roundRect">
            <a:avLst>
              <a:gd name="adj" fmla="val 848"/>
            </a:avLst>
          </a:prstGeom>
          <a:solidFill>
            <a:srgbClr val="121212"/>
          </a:solidFill>
          <a:ln/>
        </p:spPr>
      </p:sp>
      <p:sp>
        <p:nvSpPr>
          <p:cNvPr id="5" name="Shape 3"/>
          <p:cNvSpPr/>
          <p:nvPr/>
        </p:nvSpPr>
        <p:spPr>
          <a:xfrm>
            <a:off x="3677364" y="1072158"/>
            <a:ext cx="7275552" cy="5687139"/>
          </a:xfrm>
          <a:prstGeom prst="roundRect">
            <a:avLst>
              <a:gd name="adj" fmla="val 303"/>
            </a:avLst>
          </a:prstGeom>
          <a:solidFill>
            <a:srgbClr val="121212"/>
          </a:solidFill>
          <a:ln/>
        </p:spPr>
      </p:sp>
      <p:sp>
        <p:nvSpPr>
          <p:cNvPr id="6" name="Text 4"/>
          <p:cNvSpPr/>
          <p:nvPr/>
        </p:nvSpPr>
        <p:spPr>
          <a:xfrm>
            <a:off x="3792141" y="1158240"/>
            <a:ext cx="7046000" cy="5514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E5E0DF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export class TriageEngine {
  private static readonly CRITICAL_THRESHOLD = 40;
  private static readonly HIGH_THRESHOLD = 25;
  public static async calculatePriorityWithAI(
    input: TriageInput,
    waitingTime: number = 0
  ): Promise&lt;TriageResult&gt; {
    // Rule-based triage ALWAYS runs (graceful degradation)
    const ruleBasedResult = this.calculatePriority(input);
    // Enhance with AI prediction
    try {
      const aiPrediction = await aiService.predictDeterioration({
        vitalSigns: input.vitalSigns,
        age: input.age,
        currentPriority: ruleBasedResult.priority,
        waitingTime,
        symptoms: input.symptoms,
      });
      // Add AI insights to rule-based result
      ruleBasedResult.aiPrediction = aiPrediction;
    } catch (error) {
      // System continues working even if AI fails
      console.warn('AI unavailable, using rule-based triage only');
    }
    return ruleBasedResult;
  }
}
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83079" y="6931462"/>
            <a:ext cx="1435537" cy="179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Priority Scoring: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83079" y="7283053"/>
            <a:ext cx="7264122" cy="183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900" dirty="0">
                <a:solidFill>
                  <a:srgbClr val="F2F2F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RED (Critical):</a:t>
            </a:r>
            <a:pPr algn="l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Score &gt; 40 → Immediate care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83079" y="7507010"/>
            <a:ext cx="7264122" cy="183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900" dirty="0">
                <a:solidFill>
                  <a:srgbClr val="F2F2F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YELLOW (Urgent):</a:t>
            </a:r>
            <a:pPr algn="l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Score 25-40 → Within 30 min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83079" y="7730966"/>
            <a:ext cx="7264122" cy="183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900" dirty="0">
                <a:solidFill>
                  <a:srgbClr val="F2F2F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GREEN (Non-urgent):</a:t>
            </a:r>
            <a:pPr algn="l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Score &lt; 25 → Can wait hours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28442" y="311825"/>
            <a:ext cx="661130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Explainable Machine Learning for Patient Safety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728442" y="711518"/>
            <a:ext cx="2894290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Python Implementation with SHAP Values: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728442" y="1058704"/>
            <a:ext cx="7173397" cy="7246620"/>
          </a:xfrm>
          <a:prstGeom prst="roundRect">
            <a:avLst>
              <a:gd name="adj" fmla="val 664"/>
            </a:avLst>
          </a:prstGeom>
          <a:solidFill>
            <a:srgbClr val="121212"/>
          </a:solidFill>
          <a:ln/>
        </p:spPr>
      </p:sp>
      <p:sp>
        <p:nvSpPr>
          <p:cNvPr id="5" name="Shape 3"/>
          <p:cNvSpPr/>
          <p:nvPr/>
        </p:nvSpPr>
        <p:spPr>
          <a:xfrm>
            <a:off x="3722846" y="1058704"/>
            <a:ext cx="7184588" cy="7246620"/>
          </a:xfrm>
          <a:prstGeom prst="roundRect">
            <a:avLst>
              <a:gd name="adj" fmla="val 237"/>
            </a:avLst>
          </a:prstGeom>
          <a:solidFill>
            <a:srgbClr val="121212"/>
          </a:solidFill>
          <a:ln/>
        </p:spPr>
      </p:sp>
      <p:sp>
        <p:nvSpPr>
          <p:cNvPr id="6" name="Text 4"/>
          <p:cNvSpPr/>
          <p:nvPr/>
        </p:nvSpPr>
        <p:spPr>
          <a:xfrm>
            <a:off x="3836194" y="1143714"/>
            <a:ext cx="6957893" cy="7076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E5E0DF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class DeteriorationPredictor:
  def predict(self, features):
    # Extract vital signs
    hr = features.get('heart_rate', 80)
    spo2 = features.get('oxygen_saturation', 98)
    bp = features.get('systolic_bp', 120)
    consciousness = features.get('consciousness', 'alert')
    # Calculate risk with feature importance (SHAP)
    risk_score = 0
    reasoning = []
    shap_values = {} # Explainability for clinicians
    # Heart rate analysis
    if hr &lt; 40 or hr &gt; 140:
      shap_values['heart_rate'] = 30
      risk_score += 30
      reasoning.append(f"CRITICAL: Heart rate {hr} bpm")
    # Oxygen saturation (most critical)
    if spo2 &lt; 90:
      shap_values['oxygen_saturation'] = 30
      risk_score += 30
      reasoning.append(f"HYPOXEMIA: SpO2 {spo2}%")
    # Consciousness level
    if consciousness == 'unresponsive':
      shap_values['consciousness'] = 25
      risk_score += 25
      reasoning.append("Patient unresponsive - critical")
    return {
      'risk_score': min(risk_score, 100),
      'deterioration_probability': risk_score / 100,
      'ai_reasoning': reasoning,
      'shap_values': shap_values, # Shows WHY AI predicted this
      'confidence': self._calculate_confidence()
    }
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728442" y="8432840"/>
            <a:ext cx="717339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Output: Risk score (0-100) + SHAP explanations 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clinicians can trust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66492" y="343257"/>
            <a:ext cx="6194227" cy="390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Predicting Patient Surges 6 Hours Ahead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3366492" y="783312"/>
            <a:ext cx="2455783" cy="195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Python Time-Series Forecasting: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366492" y="1165622"/>
            <a:ext cx="7897297" cy="6380559"/>
          </a:xfrm>
          <a:prstGeom prst="roundRect">
            <a:avLst>
              <a:gd name="adj" fmla="val 822"/>
            </a:avLst>
          </a:prstGeom>
          <a:solidFill>
            <a:srgbClr val="121212"/>
          </a:solidFill>
          <a:ln/>
        </p:spPr>
      </p:sp>
      <p:sp>
        <p:nvSpPr>
          <p:cNvPr id="5" name="Shape 3"/>
          <p:cNvSpPr/>
          <p:nvPr/>
        </p:nvSpPr>
        <p:spPr>
          <a:xfrm>
            <a:off x="3360301" y="1165622"/>
            <a:ext cx="7909679" cy="6380559"/>
          </a:xfrm>
          <a:prstGeom prst="roundRect">
            <a:avLst>
              <a:gd name="adj" fmla="val 294"/>
            </a:avLst>
          </a:prstGeom>
          <a:solidFill>
            <a:srgbClr val="121212"/>
          </a:solidFill>
          <a:ln/>
        </p:spPr>
      </p:sp>
      <p:sp>
        <p:nvSpPr>
          <p:cNvPr id="6" name="Text 4"/>
          <p:cNvSpPr/>
          <p:nvPr/>
        </p:nvSpPr>
        <p:spPr>
          <a:xfrm>
            <a:off x="3485078" y="1259205"/>
            <a:ext cx="7660124" cy="6193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E5E0DF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class SurgeForecaster:
  def forecast(self, historical_data, hours_ahead=6):
    df = pd.DataFrame(historical_data)
    df['timestamp'] = pd.to_datetime(df['timestamp'])
    # Analyze hourly patterns
    df['hour'] = df['timestamp'].dt.hour
    hourly_avg = df.groupby('hour')['patient_count'].mean()
    # Generate 6-hour forecast
    forecasts = []
    for i in range(hours_ahead):
      target_time = now + timedelta(hours=i+1)
      base_prediction = hourly_avg.get(target_time.hour)
      forecasts.append({
        'timestamp': target_time,
        'predicted_patient_count': int(base_prediction),
        'confidence_lower': int(base_prediction * 0.8),
        'confidence_upper': int(base_prediction * 1.2)
      })
    # Detect surge events
    surge_threshold = avg + (1.5 * std)
    surge_detected = any(f['predicted_patient_count'] &gt; surge_threshold for f in forecasts)
    return {
      'hourly_forecast': forecasts,
      'surge_detected': surge_detected,
      'recommendations': self._generate_recommendations(forecasts)
    }
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366492" y="7686556"/>
            <a:ext cx="7897297" cy="199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Outputs: 6-hour predictions + confidence intervals + 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staffing recommendations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28442" y="311825"/>
            <a:ext cx="543365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Sub-Second Updates Across All Clients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728442" y="711518"/>
            <a:ext cx="2689503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Backend Implementation (TypeScript):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728442" y="1058704"/>
            <a:ext cx="7173397" cy="2710339"/>
          </a:xfrm>
          <a:prstGeom prst="roundRect">
            <a:avLst>
              <a:gd name="adj" fmla="val 1757"/>
            </a:avLst>
          </a:prstGeom>
          <a:solidFill>
            <a:srgbClr val="121212"/>
          </a:solidFill>
          <a:ln/>
        </p:spPr>
      </p:sp>
      <p:sp>
        <p:nvSpPr>
          <p:cNvPr id="5" name="Shape 3"/>
          <p:cNvSpPr/>
          <p:nvPr/>
        </p:nvSpPr>
        <p:spPr>
          <a:xfrm>
            <a:off x="3722846" y="1058704"/>
            <a:ext cx="7184588" cy="2710339"/>
          </a:xfrm>
          <a:prstGeom prst="roundRect">
            <a:avLst>
              <a:gd name="adj" fmla="val 628"/>
            </a:avLst>
          </a:prstGeom>
          <a:solidFill>
            <a:srgbClr val="121212"/>
          </a:solidFill>
          <a:ln/>
        </p:spPr>
      </p:sp>
      <p:sp>
        <p:nvSpPr>
          <p:cNvPr id="6" name="Text 4"/>
          <p:cNvSpPr/>
          <p:nvPr/>
        </p:nvSpPr>
        <p:spPr>
          <a:xfrm>
            <a:off x="3836194" y="1143714"/>
            <a:ext cx="6957893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E5E0DF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// Server broadcasts events to all clients
io.on('connection', (socket) =&gt; {
  socket.on('queue:subscribe', async () =&gt; {
    const queue = await getTriageQueue();
    socket.emit('queue:update', queue);
  });
});
// Broadcast when patient data changes
export const broadcastQueueUpdate = async () =&gt; {
  const queue = await getTriageQueue();
  io.emit('queue:update', queue); // All clients updated instantly
};
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728442" y="3939064"/>
            <a:ext cx="1900595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Frontend React Integration: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728442" y="4286250"/>
            <a:ext cx="7173397" cy="2347436"/>
          </a:xfrm>
          <a:prstGeom prst="roundRect">
            <a:avLst>
              <a:gd name="adj" fmla="val 2029"/>
            </a:avLst>
          </a:prstGeom>
          <a:solidFill>
            <a:srgbClr val="121212"/>
          </a:solidFill>
          <a:ln/>
        </p:spPr>
      </p:sp>
      <p:sp>
        <p:nvSpPr>
          <p:cNvPr id="9" name="Shape 7"/>
          <p:cNvSpPr/>
          <p:nvPr/>
        </p:nvSpPr>
        <p:spPr>
          <a:xfrm>
            <a:off x="3722846" y="4286250"/>
            <a:ext cx="7184588" cy="2347436"/>
          </a:xfrm>
          <a:prstGeom prst="roundRect">
            <a:avLst>
              <a:gd name="adj" fmla="val 725"/>
            </a:avLst>
          </a:prstGeom>
          <a:solidFill>
            <a:srgbClr val="121212"/>
          </a:solidFill>
          <a:ln/>
        </p:spPr>
      </p:sp>
      <p:sp>
        <p:nvSpPr>
          <p:cNvPr id="10" name="Text 8"/>
          <p:cNvSpPr/>
          <p:nvPr/>
        </p:nvSpPr>
        <p:spPr>
          <a:xfrm>
            <a:off x="3836194" y="4371261"/>
            <a:ext cx="6957893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E5E0DF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useEffect(() =&gt; {
  socket.on('queue:update', (newQueue) =&gt; {
    setPatients(newQueue.sort((a, b) =&gt; priorityMap[b.priority] - priorityMap[a.priority] ));
  });
  socket.on('patient:priorityChanged', ({ id, newPriority }) =&gt; {
    updatePatientPriority(id, newPriority);
  });
  socket.emit('queue:subscribe');
}, []);
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728442" y="6803708"/>
            <a:ext cx="1957149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Database Schema (Knex.js):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728442" y="7150894"/>
            <a:ext cx="7173397" cy="1621631"/>
          </a:xfrm>
          <a:prstGeom prst="roundRect">
            <a:avLst>
              <a:gd name="adj" fmla="val 2937"/>
            </a:avLst>
          </a:prstGeom>
          <a:solidFill>
            <a:srgbClr val="121212"/>
          </a:solidFill>
          <a:ln/>
        </p:spPr>
      </p:sp>
      <p:sp>
        <p:nvSpPr>
          <p:cNvPr id="13" name="Shape 11"/>
          <p:cNvSpPr/>
          <p:nvPr/>
        </p:nvSpPr>
        <p:spPr>
          <a:xfrm>
            <a:off x="3722846" y="7150894"/>
            <a:ext cx="7184588" cy="1621631"/>
          </a:xfrm>
          <a:prstGeom prst="roundRect">
            <a:avLst>
              <a:gd name="adj" fmla="val 1049"/>
            </a:avLst>
          </a:prstGeom>
          <a:solidFill>
            <a:srgbClr val="121212"/>
          </a:solidFill>
          <a:ln/>
        </p:spPr>
      </p:sp>
      <p:sp>
        <p:nvSpPr>
          <p:cNvPr id="14" name="Text 12"/>
          <p:cNvSpPr/>
          <p:nvPr/>
        </p:nvSpPr>
        <p:spPr>
          <a:xfrm>
            <a:off x="3836194" y="7235904"/>
            <a:ext cx="6957893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E5E0DF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await knex.schema.createTable('ai_predictions', (table) =&gt; {
  table.increments('id').primary();
  table.integer('patient_id').references('patients.id');
  table.integer('risk_score').notNullable();
  table.json('shap_values'); // Explainability
  table.json('ai_reasoning'); // Plain English
});
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728442" y="8900041"/>
            <a:ext cx="717339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Result: &lt; 50ms latency, JWT security, 8 tables with 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full RBAC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405" y="599480"/>
            <a:ext cx="8615363" cy="679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50"/>
              </a:lnSpc>
              <a:buNone/>
            </a:pPr>
            <a:r>
              <a:rPr lang="en-US" sz="42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What Makes TRIAGELOCK Unique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761405" y="1823085"/>
            <a:ext cx="2719387" cy="339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Core Features: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61405" y="2380536"/>
            <a:ext cx="6288405" cy="348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✓ Automated Triage: &lt; 1 minute vs 5-10 min manual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61405" y="2804636"/>
            <a:ext cx="6288405" cy="696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✓ AI Deterioration Detection: Real-time with SHAP explanations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61405" y="3576757"/>
            <a:ext cx="6288405" cy="348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✓ 6-Hour Surge Forecasting: Predictive staffing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61405" y="4000857"/>
            <a:ext cx="6288405" cy="348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✓ Multi-Hospital Dashboard: City-wide coordination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61405" y="4424958"/>
            <a:ext cx="6288405" cy="348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✓ WebSocket Real-Time: &lt; 50ms update latency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61405" y="4849058"/>
            <a:ext cx="6288405" cy="348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✓ Graceful Degradation: Works even if ML fails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588210" y="1823085"/>
            <a:ext cx="3272790" cy="339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Competitive Advantage: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7588210" y="2407682"/>
            <a:ext cx="6288405" cy="4384953"/>
          </a:xfrm>
          <a:prstGeom prst="roundRect">
            <a:avLst>
              <a:gd name="adj" fmla="val 2084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95830" y="2415302"/>
            <a:ext cx="6272451" cy="62424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814310" y="2553414"/>
            <a:ext cx="1651635" cy="348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Feature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908619" y="2553414"/>
            <a:ext cx="1647825" cy="348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Traditional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1999119" y="2553414"/>
            <a:ext cx="1651635" cy="348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TRIAGELOCK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595830" y="3039547"/>
            <a:ext cx="6272451" cy="62424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814310" y="3177659"/>
            <a:ext cx="1651635" cy="348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Response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908619" y="3177659"/>
            <a:ext cx="1647825" cy="348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Reactive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1999119" y="3177659"/>
            <a:ext cx="1651635" cy="348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Proactive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595830" y="3663791"/>
            <a:ext cx="6272451" cy="62424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7814310" y="3801904"/>
            <a:ext cx="1651635" cy="348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Speed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908619" y="3801904"/>
            <a:ext cx="1647825" cy="348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5-10 min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1999119" y="3801904"/>
            <a:ext cx="1651635" cy="348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&lt; 1 minute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7595830" y="4288036"/>
            <a:ext cx="6272451" cy="62424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7814310" y="4426148"/>
            <a:ext cx="1651635" cy="348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Deterioration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908619" y="4426148"/>
            <a:ext cx="1647825" cy="348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Manual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1999119" y="4426148"/>
            <a:ext cx="1651635" cy="348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Real-time AI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7595830" y="4912281"/>
            <a:ext cx="6272451" cy="62424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7814310" y="5050393"/>
            <a:ext cx="1651635" cy="348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Multi-Hospital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9908619" y="5050393"/>
            <a:ext cx="1647825" cy="348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Phone calls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11999119" y="5050393"/>
            <a:ext cx="1651635" cy="348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Live dashboard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7595830" y="5536525"/>
            <a:ext cx="6272451" cy="62424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7814310" y="5674638"/>
            <a:ext cx="1651635" cy="348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Explainability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9908619" y="5674638"/>
            <a:ext cx="1647825" cy="348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None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11999119" y="5674638"/>
            <a:ext cx="1651635" cy="348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SHAP values</a:t>
            </a:r>
            <a:endParaRPr lang="en-US" sz="1700" dirty="0"/>
          </a:p>
        </p:txBody>
      </p:sp>
      <p:sp>
        <p:nvSpPr>
          <p:cNvPr id="36" name="Shape 34"/>
          <p:cNvSpPr/>
          <p:nvPr/>
        </p:nvSpPr>
        <p:spPr>
          <a:xfrm>
            <a:off x="7595830" y="6160770"/>
            <a:ext cx="6272451" cy="62424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7814310" y="6298882"/>
            <a:ext cx="1651635" cy="348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Status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9908619" y="6298882"/>
            <a:ext cx="1647825" cy="348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Concept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11999119" y="6298882"/>
            <a:ext cx="1651635" cy="348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Live demo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761405" y="7281982"/>
            <a:ext cx="13107591" cy="348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Innovation: Hybrid intelligence + Three-tier architecture + 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Explainable AI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5972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System in Action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822132"/>
            <a:ext cx="4196358" cy="5747742"/>
          </a:xfrm>
          <a:prstGeom prst="roundRect">
            <a:avLst>
              <a:gd name="adj" fmla="val 3486"/>
            </a:avLst>
          </a:prstGeom>
          <a:solidFill>
            <a:srgbClr val="050505"/>
          </a:solidFill>
          <a:ln w="30480">
            <a:solidFill>
              <a:srgbClr val="5656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1822132"/>
            <a:ext cx="121920" cy="5747742"/>
          </a:xfrm>
          <a:prstGeom prst="roundRect">
            <a:avLst>
              <a:gd name="adj" fmla="val 78139"/>
            </a:avLst>
          </a:prstGeom>
          <a:solidFill>
            <a:srgbClr val="F2F2F3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2079427"/>
            <a:ext cx="35903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Scenario 1: Mass Casualty Event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2924175"/>
            <a:ext cx="35903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5 patients arrive simultaneously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142524" y="3366373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System auto-triages in &lt; 30 seconds each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142524" y="4171474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AI detects 2 high-risk cases (SpO2 &lt; 90%)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142524" y="4976574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Queue auto-sorts by urgency (RED → YELLOW → GREEN)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1142524" y="5781675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Surge forecast predicts +30 patients in 3 hours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1142524" y="6586776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Recommendations: Call in 2 extra doctors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5216962" y="1822132"/>
            <a:ext cx="4196358" cy="5747742"/>
          </a:xfrm>
          <a:prstGeom prst="roundRect">
            <a:avLst>
              <a:gd name="adj" fmla="val 3486"/>
            </a:avLst>
          </a:prstGeom>
          <a:solidFill>
            <a:srgbClr val="050505"/>
          </a:solidFill>
          <a:ln w="30480">
            <a:solidFill>
              <a:srgbClr val="5656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86482" y="1822132"/>
            <a:ext cx="121920" cy="5747742"/>
          </a:xfrm>
          <a:prstGeom prst="roundRect">
            <a:avLst>
              <a:gd name="adj" fmla="val 78139"/>
            </a:avLst>
          </a:prstGeom>
          <a:solidFill>
            <a:srgbClr val="F2F2F3"/>
          </a:solidFill>
          <a:ln/>
        </p:spPr>
      </p:sp>
      <p:sp>
        <p:nvSpPr>
          <p:cNvPr id="14" name="Text 12"/>
          <p:cNvSpPr/>
          <p:nvPr/>
        </p:nvSpPr>
        <p:spPr>
          <a:xfrm>
            <a:off x="5565696" y="2079427"/>
            <a:ext cx="35903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Scenario 2: Patient Deterioration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565696" y="2924175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Patient triaged YELLOW (moderate risk)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5565696" y="3729276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Vitals updated: SpO2 drops to 88%, HR → 125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5565696" y="4534376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AI prediction: 85% deterioration probability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5565696" y="5339477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SHAP shows: "SpO2 contributed +30 to risk"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5565696" y="6144578"/>
            <a:ext cx="35903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Priority auto-escalated to RED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5565696" y="6586776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WebSocket alert to doctor instantly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9640133" y="1822132"/>
            <a:ext cx="4196358" cy="5747742"/>
          </a:xfrm>
          <a:prstGeom prst="roundRect">
            <a:avLst>
              <a:gd name="adj" fmla="val 3486"/>
            </a:avLst>
          </a:prstGeom>
          <a:solidFill>
            <a:srgbClr val="050505"/>
          </a:solidFill>
          <a:ln w="30480">
            <a:solidFill>
              <a:srgbClr val="56565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09653" y="1822132"/>
            <a:ext cx="121920" cy="5747742"/>
          </a:xfrm>
          <a:prstGeom prst="roundRect">
            <a:avLst>
              <a:gd name="adj" fmla="val 78139"/>
            </a:avLst>
          </a:prstGeom>
          <a:solidFill>
            <a:srgbClr val="F2F2F3"/>
          </a:solidFill>
          <a:ln/>
        </p:spPr>
      </p:sp>
      <p:sp>
        <p:nvSpPr>
          <p:cNvPr id="23" name="Text 21"/>
          <p:cNvSpPr/>
          <p:nvPr/>
        </p:nvSpPr>
        <p:spPr>
          <a:xfrm>
            <a:off x="9988868" y="2079427"/>
            <a:ext cx="35903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Scenario 3: Government Coordination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988868" y="2924175"/>
            <a:ext cx="35903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Hospital A at 95% capacity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9988868" y="3366373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Surge forecast shows +40 patients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9988868" y="4171474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Gov dashboard finds Hospital B at 40% occupancy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9988868" y="4976574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Transfer recommendation generated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9988868" y="5781675"/>
            <a:ext cx="35903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Ambulance diversion initiated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32617"/>
            <a:ext cx="1127605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TRIAGELOCK - Ready to Save Lives Today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20837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What We Built: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78951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5,000+ lines of production TypeScript/Python code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23171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3 microservices deployed on Railway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367391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15+ API endpoints with full error handling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11611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Real-time WebSocket sync (&lt; 50ms latency)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455830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Explainable AI with SHAP values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500050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Multi-hospital coordination dashboard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220837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Impact: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599521" y="278951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✓ Faster triage → Earlier treatment → Lives saved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3231713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✓ Predictive surge management → Prevents hospital collapse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599521" y="403681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✓ City-wide coordination → Fair resource distribution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599521" y="447901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✓ Explainable AI → Clinicians trust the system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569785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This is not a prototype. This is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2F2F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production-ready infrastructure for emergency healthcare.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93790" y="631590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Live Demo: </a:t>
            </a:r>
            <a:pPr algn="l" indent="0" marL="0">
              <a:lnSpc>
                <a:spcPts val="2850"/>
              </a:lnSpc>
              <a:buNone/>
            </a:pPr>
            <a:r>
              <a:rPr lang="en-US" sz="1750" u="sng" dirty="0">
                <a:solidFill>
                  <a:srgbClr val="F2F2F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https://triage-production-9233.up.railway.app/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(</a:t>
            </a:r>
            <a:pPr algn="l" indent="0" marL="0">
              <a:lnSpc>
                <a:spcPts val="2850"/>
              </a:lnSpc>
              <a:buNone/>
            </a:pPr>
            <a:r>
              <a:rPr lang="en-US" sz="1750" u="sng" dirty="0">
                <a:solidFill>
                  <a:srgbClr val="F2F2F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https://triage-production-9233.up.railway.app/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)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793790" y="693396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Team A.I.C.A: Ambuj Mishra, Ammen S, Steve Sunny Subhash, Eldo John Giby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2026-01-09T15:36:47Z</dcterms:created>
  <dcterms:modified xsi:type="dcterms:W3CDTF">2026-01-09T15:36:47Z</dcterms:modified>
</cp:coreProperties>
</file>